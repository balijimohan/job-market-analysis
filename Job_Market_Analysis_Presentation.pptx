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5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6700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MARKET</a:t>
            </a:r>
            <a:endParaRPr lang="en-US" sz="5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SQL &amp; Power BI Project on the U.S. Data &amp; Analytics Job Market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22960" y="4224528"/>
            <a:ext cx="3108960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Baliji Mohan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Glassdoor Jobs Dataset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  •  Power BI Desktop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2960" y="6309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LISTINGS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37560" y="6309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0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852160" y="6309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STATES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66760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$107K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366760" y="6309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SALARY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6A76F3-BBEC-1C86-C0BC-C4BAD39240B9}"/>
              </a:ext>
            </a:extLst>
          </p:cNvPr>
          <p:cNvSpPr txBox="1"/>
          <p:nvPr/>
        </p:nvSpPr>
        <p:spPr>
          <a:xfrm>
            <a:off x="10881361" y="5725298"/>
            <a:ext cx="816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209E3B-88F5-35EC-6224-D33EEEF17B37}"/>
              </a:ext>
            </a:extLst>
          </p:cNvPr>
          <p:cNvSpPr txBox="1"/>
          <p:nvPr/>
        </p:nvSpPr>
        <p:spPr>
          <a:xfrm>
            <a:off x="10808044" y="6248519"/>
            <a:ext cx="13077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553212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91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0432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6400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1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IN" sz="1400" b="1" dirty="0"/>
              <a:t>Built using a real Glassdoor job-postings dataset</a:t>
            </a:r>
            <a:r>
              <a:rPr lang="en-IN" sz="1400" dirty="0"/>
              <a:t> to analyze the U.S. data &amp; analytics job market across multiple industries.</a:t>
            </a:r>
            <a:endParaRPr lang="en-US" sz="1400" dirty="0">
              <a:solidFill>
                <a:srgbClr val="1B21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spcAft>
                <a:spcPts val="1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IN" sz="1400" dirty="0"/>
              <a:t>Performed SQL-based data cleaning, validation, and business analysis before developing four interactive Power BI dashboards.</a:t>
            </a:r>
          </a:p>
          <a:p>
            <a:pPr marL="285750" indent="-285750">
              <a:spcAft>
                <a:spcPts val="1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IN" sz="1400" b="1" dirty="0"/>
              <a:t>Transformed 2,000 job-posting records into actionable insights</a:t>
            </a:r>
            <a:r>
              <a:rPr lang="en-IN" sz="1400" dirty="0"/>
              <a:t> for job seekers, employers, and workforce planners.</a:t>
            </a:r>
          </a:p>
          <a:p>
            <a:pPr marL="285750" indent="-285750">
              <a:spcAft>
                <a:spcPts val="1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IN" sz="1400" b="1" dirty="0"/>
              <a:t>Analyzed hiring demand, salary trends, in-demand skills, and top hiring companies</a:t>
            </a:r>
            <a:r>
              <a:rPr lang="en-IN" sz="1400" dirty="0"/>
              <a:t> to uncover key job market insights</a:t>
            </a:r>
            <a:r>
              <a:rPr lang="en-US" sz="14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178040" y="1417320"/>
            <a:ext cx="4526280" cy="4892040"/>
          </a:xfrm>
          <a:prstGeom prst="roundRect">
            <a:avLst>
              <a:gd name="adj" fmla="val 202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8C97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452360" y="1645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452360" y="2148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52360" y="2606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LISTINGS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537192" y="2148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318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37192" y="2606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452360" y="3172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452360" y="36301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537192" y="3172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$107K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537192" y="36301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SALARY (K)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452360" y="419709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452360" y="465429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JOB TITLES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537192" y="419709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537192" y="465429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452360" y="52212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392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452360" y="56784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POSTINGS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9537192" y="52212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3.77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537192" y="56784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COMPANY RATING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452360" y="5989320"/>
            <a:ext cx="3977640" cy="0"/>
          </a:xfrm>
          <a:prstGeom prst="line">
            <a:avLst/>
          </a:prstGeom>
          <a:noFill/>
          <a:ln w="12700">
            <a:solidFill>
              <a:srgbClr val="3340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7452360" y="6080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MySQL Workbench (SQL) &amp; Power BI Desktop (DAX).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 •  DATA ANALYST PORTFOLIO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06D589-6DA9-14B6-5A52-28013785FDD2}"/>
              </a:ext>
            </a:extLst>
          </p:cNvPr>
          <p:cNvSpPr txBox="1"/>
          <p:nvPr/>
        </p:nvSpPr>
        <p:spPr>
          <a:xfrm>
            <a:off x="3337560" y="6492238"/>
            <a:ext cx="74340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 end-to-end analytics project transforming raw job data into actionable business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objecti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553212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91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0432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792224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5568" y="1664208"/>
            <a:ext cx="10314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Clean &amp; Validate the Dataset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15568" y="1938528"/>
            <a:ext cx="10314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and standardize placeholder / missing values in the raw Glassdoor job-postings data.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295351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icons/sql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05409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15568" y="2926080"/>
            <a:ext cx="10314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Explore Core Business Questions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115568" y="3200400"/>
            <a:ext cx="10314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SQL to explore ten business questions covering geography, compensation, industry, company, and skills.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4215384"/>
            <a:ext cx="420624" cy="420624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icons/mod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315968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15568" y="4187952"/>
            <a:ext cx="10314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Design a Flexible Data Model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115568" y="4462272"/>
            <a:ext cx="10314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Power BI model with derived fields — state, seniority, skill flags — for cross-filterable analysis.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48640" y="547725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4" descr="icons/insigh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5577840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15568" y="5449824"/>
            <a:ext cx="10314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Generate Actionable Business Recommendations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1115568" y="5724144"/>
            <a:ext cx="10314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analytical findings into actionable recommendations for job seekers, employers, and workforce planners.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 •  DATA ANALYST PORTFOLIO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BFA9B3-4CD0-F1E1-17D4-76DBA44636F4}"/>
              </a:ext>
            </a:extLst>
          </p:cNvPr>
          <p:cNvSpPr txBox="1"/>
          <p:nvPr/>
        </p:nvSpPr>
        <p:spPr>
          <a:xfrm>
            <a:off x="3419062" y="6429026"/>
            <a:ext cx="7537836" cy="255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Established clear analytical goals to guide data cleaning, exploration, and business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553212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91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0432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Glassdoor job-posting dataset with 2,000 records and 41 analytical attributes after preprocessing (42 original columns).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21579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21792" y="2130552"/>
            <a:ext cx="384048" cy="384048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r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22199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258775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Details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4360" y="292608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Title, Salary, Seniority Level, Degree, and Job Category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724912" y="1965960"/>
            <a:ext cx="21579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2889504" y="2130552"/>
            <a:ext cx="384048" cy="384048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icons/loc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944" y="222199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62072" y="258775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862072" y="292608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Location, State Information and Company  Headquarters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992624" y="1965960"/>
            <a:ext cx="21579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157216" y="2130552"/>
            <a:ext cx="384048" cy="384048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icons/compan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8656" y="2221992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29784" y="258775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129784" y="292608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Name, Rating, Size, Ownership Type, Industry, Revenue, and  Competitor Details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7260336" y="1965960"/>
            <a:ext cx="21579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7424928" y="2130552"/>
            <a:ext cx="384048" cy="384048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4" descr="icons/sala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6368" y="2221992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97496" y="258775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7397496" y="292608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Minimum, Maximum &amp; Average Salary(K), Hourly Pay, and  Employer-Provided Salary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9528048" y="1965960"/>
            <a:ext cx="21579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9692640" y="2130552"/>
            <a:ext cx="384048" cy="384048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5" descr="icons/skill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4080" y="2221992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665208" y="258775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Flags (Binary)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9665208" y="292608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Spark, AWS, Excel, SQL, SAS, Keras, PyTorch, TensorFlow, Hadoop, Tableau, Power BI, and more.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457200" y="4251960"/>
            <a:ext cx="11247120" cy="1965960"/>
          </a:xfrm>
          <a:prstGeom prst="roundRect">
            <a:avLst>
              <a:gd name="adj" fmla="val 418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5"/>
          <p:cNvSpPr/>
          <p:nvPr/>
        </p:nvSpPr>
        <p:spPr>
          <a:xfrm>
            <a:off x="68580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NOTES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85800" y="4681728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placeholder values (-1) with NULL during SQL data cleaning.</a:t>
            </a:r>
            <a:endParaRPr lang="en-US" sz="11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state information from composite location fields for regional analysis.</a:t>
            </a:r>
            <a:endParaRPr lang="en-US" sz="11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binary skill columns into an analysis – friendly format for SQL and Power BI.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 •  DATA ANALYST PORTFOLIO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D91092-D6A2-C862-5712-2D5E2E5DEEF6}"/>
              </a:ext>
            </a:extLst>
          </p:cNvPr>
          <p:cNvSpPr txBox="1"/>
          <p:nvPr/>
        </p:nvSpPr>
        <p:spPr>
          <a:xfrm>
            <a:off x="3355450" y="6528816"/>
            <a:ext cx="65292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well-prepared dataset forms the foundation for reliable analysis and decision-making.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553212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91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0432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 technology stack for transforming raw data into interactive business insights.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362102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438912" cy="438912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my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16712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2587752"/>
            <a:ext cx="3255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2953512"/>
            <a:ext cx="32552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IN" sz="1000" dirty="0"/>
              <a:t>Used MySQL Workbench for data cleaning, validation, business queries, joins, aggregations, and analytical reporting</a:t>
            </a: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215384" y="1874520"/>
            <a:ext cx="362102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4398264" y="2057400"/>
            <a:ext cx="438912" cy="438912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icons/sq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216712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98264" y="2587752"/>
            <a:ext cx="3255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Querying &amp; Analysis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398264" y="2953512"/>
            <a:ext cx="32552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creation, duplicate detection, NULL validation, placeholder cleanup, business-question analysis.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973568" y="1874520"/>
            <a:ext cx="362102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8156448" y="2057400"/>
            <a:ext cx="438912" cy="438912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icons/powerb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76" y="2167128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56448" y="2587752"/>
            <a:ext cx="3255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156448" y="2953512"/>
            <a:ext cx="32552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IN" sz="1000" dirty="0"/>
              <a:t>Developed interactive dashboards using data modeling, DAX measures, and advanced visualizations.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57200" y="4206240"/>
            <a:ext cx="362102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640080" y="438912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4" descr="icons/powerque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498848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0080" y="4919472"/>
            <a:ext cx="3255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(M)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40080" y="5285232"/>
            <a:ext cx="32552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IN" sz="1000" dirty="0"/>
              <a:t>Cleaned, transformed, and reshaped data for analysis using Power Query.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215384" y="4206240"/>
            <a:ext cx="362102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4398264" y="438912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5" descr="icons/da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7992" y="4498848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398264" y="4919472"/>
            <a:ext cx="3255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398264" y="5285232"/>
            <a:ext cx="32552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DAX measures and KPIs for salary analysis, job counts, percentages, and business metrics.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7973568" y="4206240"/>
            <a:ext cx="362102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5"/>
          <p:cNvSpPr/>
          <p:nvPr/>
        </p:nvSpPr>
        <p:spPr>
          <a:xfrm>
            <a:off x="8156448" y="438912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6" descr="icons/cs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6176" y="4498848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156448" y="4919472"/>
            <a:ext cx="3255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Glassdoor CSV Dataset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8156448" y="5285232"/>
            <a:ext cx="32552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raw data source used throughout the SQL and Power BI analytics pipeline.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 •  DATA ANALYST PORTFOLIO</a:t>
            </a:r>
            <a:endParaRPr lang="en-US" sz="850" dirty="0"/>
          </a:p>
        </p:txBody>
      </p:sp>
      <p:sp>
        <p:nvSpPr>
          <p:cNvPr id="38" name="Text 29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55E764-B853-242E-FB2C-57C06CE52BA1}"/>
              </a:ext>
            </a:extLst>
          </p:cNvPr>
          <p:cNvSpPr txBox="1"/>
          <p:nvPr/>
        </p:nvSpPr>
        <p:spPr>
          <a:xfrm>
            <a:off x="3369762" y="6496812"/>
            <a:ext cx="55277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modern analytics stack enabled efficient data processing, visualization, and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553212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91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0432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300" i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structured three-stage workflow transformed raw job-posting data into reliable business insights and interactive dashboards</a:t>
            </a:r>
            <a:r>
              <a:rPr lang="en-IN" sz="1400" i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3611880" cy="42519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8C97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76656" y="21305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226771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6656" y="277063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Data Cleaning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76656" y="3246120"/>
            <a:ext cx="317296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 on ID field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audit on core fields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(-1) cleanup via UPDATE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Post-update validation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087368" y="3794760"/>
            <a:ext cx="164592" cy="365760"/>
          </a:xfrm>
          <a:prstGeom prst="chevron">
            <a:avLst/>
          </a:prstGeom>
          <a:solidFill>
            <a:srgbClr val="B9C4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4270248" y="1874520"/>
            <a:ext cx="3611880" cy="4251960"/>
          </a:xfrm>
          <a:prstGeom prst="roundRect">
            <a:avLst>
              <a:gd name="adj" fmla="val 2532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8C97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4489704" y="2130552"/>
            <a:ext cx="512064" cy="512064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icons/analyz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226771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89704" y="277063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SQL Analysis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489704" y="3246120"/>
            <a:ext cx="317296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business-oriented SQL queries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core analytical questions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BY, AVG, SUM, SUBSTRING_INDEX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 vs. dashboards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900416" y="3794760"/>
            <a:ext cx="164592" cy="365760"/>
          </a:xfrm>
          <a:prstGeom prst="chevron">
            <a:avLst/>
          </a:prstGeom>
          <a:solidFill>
            <a:srgbClr val="B9C4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8083296" y="1874520"/>
            <a:ext cx="3611880" cy="42519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8C97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8302752" y="21305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icons/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26771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02752" y="277063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Power BI Modeling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302752" y="3246120"/>
            <a:ext cx="317296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columns: state, company age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unpivoting (16 binary cols)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KPIs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slicers across 4 pages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 •  DATA ANALYST PORTFOLIO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9FA076-1282-3076-CF42-A50B96F4B89E}"/>
              </a:ext>
            </a:extLst>
          </p:cNvPr>
          <p:cNvSpPr txBox="1"/>
          <p:nvPr/>
        </p:nvSpPr>
        <p:spPr>
          <a:xfrm>
            <a:off x="3474720" y="6528815"/>
            <a:ext cx="65916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structured workflow ensured data accuracy, consistency, and meaningful business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sql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553212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91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0432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300" i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Business-oriented SQL queries were developed to answer key questions about hiring trends, salaries, companies, industries, and skills</a:t>
            </a:r>
            <a:r>
              <a:rPr lang="en-IN" sz="1400" i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221577"/>
              </p:ext>
            </p:extLst>
          </p:nvPr>
        </p:nvGraphicFramePr>
        <p:xfrm>
          <a:off x="457200" y="1783080"/>
          <a:ext cx="6949440" cy="402336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Business Question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 SQL Techniques Used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Which states have the highest number of job openings?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7A85"/>
                          </a:solidFill>
                        </a:rPr>
                        <a:t>String Functions, GROUP BY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What are the average min/max salaries by state?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7A85"/>
                          </a:solidFill>
                        </a:rPr>
                        <a:t>Aggregates, ROUND, GROUP BY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Which industries post the most data-related jobs?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7A85"/>
                          </a:solidFill>
                        </a:rPr>
                        <a:t>COUNT, Filtering, GROUP BY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Which companies have the most job openings?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7A85"/>
                          </a:solidFill>
                        </a:rPr>
                        <a:t>COUNT, GROUP BY, LIMIT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Which job titles appear most frequently?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7A85"/>
                          </a:solidFill>
                        </a:rPr>
                        <a:t>COUNT, GROUP BY, LIMIT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Which skills are required most often, by job title?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7A85"/>
                          </a:solidFill>
                        </a:rPr>
                        <a:t>SUM (binary flags), GROUP BY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How does average salary relate to required education?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7A85"/>
                          </a:solidFill>
                        </a:rPr>
                        <a:t>AVG, COUNT, GROUP BY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783080"/>
            <a:ext cx="4069080" cy="4379180"/>
          </a:xfrm>
          <a:prstGeom prst="roundRect">
            <a:avLst>
              <a:gd name="adj" fmla="val 2273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IN" dirty="0"/>
          </a:p>
          <a:p>
            <a:endParaRPr lang="en-IN" sz="1400" b="1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     </a:t>
            </a:r>
            <a:r>
              <a:rPr lang="en-IN" sz="1400" b="1" dirty="0">
                <a:solidFill>
                  <a:srgbClr val="00B050"/>
                </a:solidFill>
              </a:rPr>
              <a:t>Top States by Job Openings</a:t>
            </a:r>
          </a:p>
        </p:txBody>
      </p:sp>
      <p:sp>
        <p:nvSpPr>
          <p:cNvPr id="9" name="Text 5"/>
          <p:cNvSpPr/>
          <p:nvPr/>
        </p:nvSpPr>
        <p:spPr>
          <a:xfrm>
            <a:off x="786384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863840" y="2560321"/>
            <a:ext cx="3657600" cy="1995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65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50" dirty="0">
              <a:solidFill>
                <a:srgbClr val="F65CD5"/>
              </a:solidFill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F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SUBSTRING_INDEX</a:t>
            </a:r>
            <a:r>
              <a:rPr lang="en-US" sz="1150" dirty="0">
                <a:solidFill>
                  <a:srgbClr val="D6F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(Location,',',-1) AS State,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</a:t>
            </a:r>
            <a:r>
              <a:rPr lang="en-US" sz="1150" dirty="0">
                <a:solidFill>
                  <a:srgbClr val="D6F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Total_Jobs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65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50" dirty="0">
                <a:solidFill>
                  <a:srgbClr val="D6F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Job_Market_Analysis_Clean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65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r>
              <a:rPr lang="en-US" sz="1150" dirty="0">
                <a:solidFill>
                  <a:srgbClr val="D6F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65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1150" dirty="0">
                <a:solidFill>
                  <a:srgbClr val="D6F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Total_Jobs </a:t>
            </a:r>
            <a:r>
              <a:rPr lang="en-US" sz="1150" dirty="0">
                <a:solidFill>
                  <a:srgbClr val="F65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150" dirty="0">
              <a:solidFill>
                <a:srgbClr val="F65CD5"/>
              </a:solidFill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65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</a:t>
            </a:r>
            <a:r>
              <a:rPr lang="en-US" sz="1150" dirty="0">
                <a:solidFill>
                  <a:srgbClr val="D6F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863840" y="4621696"/>
            <a:ext cx="361188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7863840" y="4746532"/>
            <a:ext cx="3657600" cy="9227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050" i="1" dirty="0">
                <a:solidFill>
                  <a:schemeClr val="bg1"/>
                </a:solidFill>
              </a:rPr>
              <a:t>Complete SQL scripts are available in Appendix A of the project report.</a:t>
            </a:r>
            <a:endParaRPr lang="en-US" sz="1050" i="1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 •  DATA ANALYST PORTFOLIO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2A3369-59FD-A20C-5BDF-40EC8E2E9800}"/>
              </a:ext>
            </a:extLst>
          </p:cNvPr>
          <p:cNvSpPr txBox="1"/>
          <p:nvPr/>
        </p:nvSpPr>
        <p:spPr>
          <a:xfrm>
            <a:off x="3339547" y="6440557"/>
            <a:ext cx="57010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SQL transformed raw data into valuable insights by answering key business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execu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553212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91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0432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649224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5875">
            <a:solidFill>
              <a:srgbClr val="D8DEEC"/>
            </a:solidFill>
            <a:prstDash val="solid"/>
          </a:ln>
          <a:effectLst>
            <a:outerShdw blurRad="88900" dist="38100" dir="5400000" algn="bl" rotWithShape="0">
              <a:srgbClr val="8C97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973" y="1188720"/>
            <a:ext cx="6595126" cy="4782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135624"/>
            <a:ext cx="6492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Interactive Executive Dashboard built in Power BI with dynamic slicers for Industry, State, Company, and Job Title</a:t>
            </a:r>
            <a:r>
              <a:rPr lang="en-US" sz="9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178040" y="137160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INSIGHTS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178040" y="1691640"/>
            <a:ext cx="45262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dominates with </a:t>
            </a:r>
            <a:r>
              <a:rPr lang="en-US" sz="108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(526) </a:t>
            </a: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— more than double Data Engineer </a:t>
            </a:r>
            <a:r>
              <a:rPr lang="en-US" sz="108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(189).</a:t>
            </a:r>
            <a:endParaRPr lang="en-US" sz="1080" b="1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Virginia leads all states with </a:t>
            </a:r>
            <a:r>
              <a:rPr lang="en-US" sz="108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(139) </a:t>
            </a: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openings, followed by Texas </a:t>
            </a:r>
            <a:r>
              <a:rPr lang="en-US" sz="108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(96) </a:t>
            </a: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Pennsylvania </a:t>
            </a:r>
            <a:r>
              <a:rPr lang="en-US" sz="108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(74).</a:t>
            </a:r>
            <a:endParaRPr lang="en-US" sz="1080" b="1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IN" sz="1100" dirty="0"/>
              <a:t>Computer Hardware, Insurance Carriers, and Biotech/Pharma emerged as the leading hiring industries for data professionals</a:t>
            </a: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8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IN" sz="1100" dirty="0"/>
              <a:t>Hiring demand is concentrated across specific job roles, industries, and geographic regions, indicating clear market hotspots for data professionals.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Digital is the top individual employer with</a:t>
            </a:r>
            <a:r>
              <a:rPr lang="en-US" sz="108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(13) </a:t>
            </a: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roles.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7178040" y="44348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 BY JOB OPENINGS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640734"/>
              </p:ext>
            </p:extLst>
          </p:nvPr>
        </p:nvGraphicFramePr>
        <p:xfrm>
          <a:off x="7178040" y="4754880"/>
          <a:ext cx="4526280" cy="16459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Jobs 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Virginia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139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Texas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96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Pennsylvania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74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46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Tennessee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 •  DATA ANALYST PORTFOLIO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sal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553212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91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0432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 Dashboard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6492240" cy="4178808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5875">
            <a:solidFill>
              <a:srgbClr val="D8DEEC"/>
            </a:solidFill>
            <a:prstDash val="solid"/>
          </a:ln>
          <a:effectLst>
            <a:outerShdw blurRad="88900" dist="38100" dir="5400000" algn="bl" rotWithShape="0">
              <a:srgbClr val="8C97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63" y="1234440"/>
            <a:ext cx="6554061" cy="45034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57607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Interactive Salary Dashboard built in Power BI with dynamic slicers for Industry, State, Company, and Job Title.</a:t>
            </a:r>
            <a:endParaRPr lang="en-US" sz="95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7178040" y="137160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178040" y="1691640"/>
            <a:ext cx="45262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 salary is </a:t>
            </a:r>
            <a:r>
              <a:rPr lang="en-US" sz="108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$104.5K </a:t>
            </a: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</a:t>
            </a:r>
            <a:r>
              <a:rPr lang="en-US" sz="108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961</a:t>
            </a: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high-paying roles, with average salaries ranging from </a:t>
            </a:r>
            <a:r>
              <a:rPr lang="en-US" sz="108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($80K–$135K).</a:t>
            </a:r>
            <a:endParaRPr lang="en-US" sz="1080" b="1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IN" sz="1100" dirty="0"/>
              <a:t>Washington </a:t>
            </a:r>
            <a:r>
              <a:rPr lang="en-IN" sz="1100" b="1" dirty="0"/>
              <a:t>($106K), </a:t>
            </a:r>
            <a:r>
              <a:rPr lang="en-IN" sz="1100" dirty="0"/>
              <a:t>Utah </a:t>
            </a:r>
            <a:r>
              <a:rPr lang="en-IN" sz="1100" b="1" dirty="0"/>
              <a:t>($104K), </a:t>
            </a:r>
            <a:r>
              <a:rPr lang="en-IN" sz="1100" dirty="0"/>
              <a:t>and Ohio </a:t>
            </a:r>
            <a:r>
              <a:rPr lang="en-IN" sz="1100" b="1" dirty="0"/>
              <a:t>($104K) </a:t>
            </a:r>
            <a:r>
              <a:rPr lang="en-IN" sz="1100" dirty="0"/>
              <a:t>recorded the highest average salaries among the analyzed states.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Telecommunications </a:t>
            </a:r>
            <a:r>
              <a:rPr lang="en-US" sz="108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($131K) </a:t>
            </a: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TV Broadcasting &amp; Cable </a:t>
            </a:r>
            <a:r>
              <a:rPr lang="en-US" sz="108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($123K) </a:t>
            </a: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highest-paying industries.</a:t>
            </a:r>
            <a:endParaRPr lang="en-US" sz="108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companies (201–500 employees) show a measurable pay premium.</a:t>
            </a:r>
            <a:endParaRPr lang="en-US" sz="108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Machine Learning Engineer is the highest-paid title at $181K average.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7178040" y="44348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HIGHEST-PAYING TITLES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847759"/>
              </p:ext>
            </p:extLst>
          </p:nvPr>
        </p:nvGraphicFramePr>
        <p:xfrm>
          <a:off x="7178040" y="4754880"/>
          <a:ext cx="4526280" cy="164592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Job Title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Average Salary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Staff ML Engineer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$181K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Staff Data Scientist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$139K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VP, Data Science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$125K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Web Data Analyst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$106K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Staff Scientist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$81K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 •  DATA ANALYST PORTFOLIO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sk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553212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91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0432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Dashboard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649224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5875">
            <a:solidFill>
              <a:srgbClr val="D8DEEC"/>
            </a:solidFill>
            <a:prstDash val="solid"/>
          </a:ln>
          <a:effectLst>
            <a:outerShdw blurRad="88900" dist="38100" dir="5400000" algn="bl" rotWithShape="0">
              <a:srgbClr val="8C97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188720"/>
            <a:ext cx="6647290" cy="46817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5989320"/>
            <a:ext cx="6492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Interactive Skills Dashboard built in Power BI with dynamic slicers for Skills, Industry, Job Title, and State</a:t>
            </a:r>
            <a:r>
              <a:rPr lang="en-US" sz="9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178040" y="137160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178040" y="1691640"/>
            <a:ext cx="45262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IN" sz="1100" dirty="0"/>
              <a:t>Python </a:t>
            </a:r>
            <a:r>
              <a:rPr lang="en-IN" sz="1100" b="1" dirty="0"/>
              <a:t>(392), </a:t>
            </a:r>
            <a:r>
              <a:rPr lang="en-IN" sz="1100" dirty="0"/>
              <a:t>Excel </a:t>
            </a:r>
            <a:r>
              <a:rPr lang="en-IN" sz="1100" b="1" dirty="0"/>
              <a:t>(388), </a:t>
            </a:r>
            <a:r>
              <a:rPr lang="en-IN" sz="1100" dirty="0"/>
              <a:t>and SQL </a:t>
            </a:r>
            <a:r>
              <a:rPr lang="en-IN" sz="1100" b="1" dirty="0"/>
              <a:t>(380) </a:t>
            </a:r>
            <a:r>
              <a:rPr lang="en-IN" sz="1100" dirty="0"/>
              <a:t>are the three most in-demand skills across job postings.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IN" sz="1100" dirty="0"/>
              <a:t>AWS </a:t>
            </a:r>
            <a:r>
              <a:rPr lang="en-IN" sz="1100" b="1" dirty="0"/>
              <a:t>(176) </a:t>
            </a:r>
            <a:r>
              <a:rPr lang="en-IN" sz="1100" dirty="0"/>
              <a:t>and Spark </a:t>
            </a:r>
            <a:r>
              <a:rPr lang="en-IN" sz="1100" b="1" dirty="0"/>
              <a:t>(167) </a:t>
            </a:r>
            <a:r>
              <a:rPr lang="en-IN" sz="1100" dirty="0"/>
              <a:t>highlight strong demand for cloud and big data technologies</a:t>
            </a: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8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IN" sz="1100" dirty="0"/>
              <a:t>TensorFlow </a:t>
            </a:r>
            <a:r>
              <a:rPr lang="en-IN" sz="1100" b="1" dirty="0"/>
              <a:t>(72) </a:t>
            </a:r>
            <a:r>
              <a:rPr lang="en-IN" sz="1100" dirty="0"/>
              <a:t>and Power BI </a:t>
            </a:r>
            <a:r>
              <a:rPr lang="en-IN" sz="1100" b="1" dirty="0"/>
              <a:t>(56) </a:t>
            </a:r>
            <a:r>
              <a:rPr lang="en-IN" sz="1100" dirty="0"/>
              <a:t>indicate demand for specialized machine learning and business intelligence skills.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</a:t>
            </a:r>
            <a:r>
              <a:rPr lang="en-US" sz="108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(515), </a:t>
            </a: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Massachusetts </a:t>
            </a:r>
            <a:r>
              <a:rPr lang="en-US" sz="108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(252) </a:t>
            </a: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New York </a:t>
            </a:r>
            <a:r>
              <a:rPr lang="en-US" sz="108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(228) </a:t>
            </a: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leading skill-demand states.</a:t>
            </a:r>
            <a:endParaRPr lang="en-US" sz="108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IN" sz="1100" dirty="0"/>
              <a:t>Information Technology recorded the highest skill demand with </a:t>
            </a:r>
            <a:r>
              <a:rPr lang="en-IN" sz="1100" b="1" dirty="0"/>
              <a:t>122</a:t>
            </a:r>
            <a:r>
              <a:rPr lang="en-IN" sz="1100" dirty="0"/>
              <a:t> skill-tagged postings</a:t>
            </a: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7178040" y="44348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IN-DEMAND SKILLS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4754880"/>
          <a:ext cx="4526280" cy="16459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Skill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Postings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Python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392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Excel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388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SQL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380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AWS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176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Spark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167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 •  DATA ANALYST PORTFOLIO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compan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553212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91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0432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Dashboard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649224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5875">
            <a:solidFill>
              <a:srgbClr val="D8DEEC"/>
            </a:solidFill>
            <a:prstDash val="solid"/>
          </a:ln>
          <a:effectLst>
            <a:outerShdw blurRad="88900" dist="38100" dir="5400000" algn="bl" rotWithShape="0">
              <a:srgbClr val="8C97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media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143000"/>
            <a:ext cx="678445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0807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Interactive Company Dashboard built in Power BI with dynamic slicers for Industry, State, Company, and Company Size</a:t>
            </a:r>
            <a:r>
              <a:rPr lang="en-US" sz="9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7178040" y="137160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178040" y="1691640"/>
            <a:ext cx="45262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IN" sz="1100" dirty="0"/>
              <a:t>The dataset includes</a:t>
            </a:r>
            <a:r>
              <a:rPr lang="en-IN" sz="1100" b="1" dirty="0"/>
              <a:t> 318 </a:t>
            </a:r>
            <a:r>
              <a:rPr lang="en-IN" sz="1100" dirty="0"/>
              <a:t>hiring companies, with </a:t>
            </a:r>
            <a:r>
              <a:rPr lang="en-IN" sz="1100" b="1" dirty="0"/>
              <a:t>107</a:t>
            </a:r>
            <a:r>
              <a:rPr lang="en-IN" sz="1100" dirty="0"/>
              <a:t> highly rated organizations and an average Glassdoor rating of </a:t>
            </a:r>
            <a:r>
              <a:rPr lang="en-IN" sz="1100" b="1" dirty="0"/>
              <a:t>3.77/5</a:t>
            </a:r>
            <a:r>
              <a:rPr lang="en-IN" sz="1100" dirty="0"/>
              <a:t>. 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IN" sz="1100" dirty="0"/>
              <a:t>Privately held companies account for </a:t>
            </a:r>
            <a:r>
              <a:rPr lang="en-IN" sz="1100" b="1" dirty="0"/>
              <a:t>58.9% </a:t>
            </a:r>
            <a:r>
              <a:rPr lang="en-IN" sz="1100" dirty="0"/>
              <a:t>of job postings, compared with </a:t>
            </a:r>
            <a:r>
              <a:rPr lang="en-IN" sz="1100" b="1" dirty="0"/>
              <a:t>27.1% </a:t>
            </a:r>
            <a:r>
              <a:rPr lang="en-IN" sz="1100" dirty="0"/>
              <a:t>from publicly traded companies. 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IN" sz="1100" dirty="0"/>
              <a:t>Companies with undisclosed revenue contribute the largest share of postings </a:t>
            </a:r>
            <a:r>
              <a:rPr lang="en-IN" sz="1100" b="1" dirty="0"/>
              <a:t>(594 </a:t>
            </a:r>
            <a:r>
              <a:rPr lang="en-IN" sz="1100" dirty="0"/>
              <a:t>jobs). 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Mid-to-large companies </a:t>
            </a:r>
            <a:r>
              <a:rPr lang="en-US" sz="108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(1,001–5,000 employees) </a:t>
            </a: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the most jobs </a:t>
            </a:r>
            <a:r>
              <a:rPr lang="en-US" sz="108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(23.1%).</a:t>
            </a:r>
            <a:endParaRPr lang="en-US" sz="1080" b="1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BPA Services, Royce Geospatial &amp; SkySync each hold a perfect</a:t>
            </a:r>
            <a:r>
              <a:rPr lang="en-US" sz="108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5.0 </a:t>
            </a:r>
            <a:r>
              <a:rPr lang="en-US" sz="10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rating.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7178040" y="44348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COMPANIES BY RATING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4754880"/>
          <a:ext cx="4526280" cy="164592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Rating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BPA Services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5.0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Royce Geospatial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5.0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SkySync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5.0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Acuity Insurance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4.8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HOVER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4.8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 •  DATA ANALYST PORTFOLIO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ins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553212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91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0432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cross-cutting insights bring together the SQL findings and all four Power BI dashboards.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363931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21792" y="2039112"/>
            <a:ext cx="365760" cy="36576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r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12140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2020824"/>
            <a:ext cx="2862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1792" y="2514600"/>
            <a:ext cx="331012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IN" sz="1000" dirty="0"/>
              <a:t>Data Scientist is the most in-demand role with </a:t>
            </a:r>
            <a:r>
              <a:rPr lang="en-IN" sz="1000" b="1" dirty="0"/>
              <a:t>526</a:t>
            </a:r>
            <a:r>
              <a:rPr lang="en-IN" sz="1000" dirty="0"/>
              <a:t> postings (approximately </a:t>
            </a:r>
            <a:r>
              <a:rPr lang="en-IN" sz="1000" b="1" dirty="0"/>
              <a:t>25% </a:t>
            </a:r>
            <a:r>
              <a:rPr lang="en-IN" sz="1000" dirty="0"/>
              <a:t>of all job listings).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233672" y="1874520"/>
            <a:ext cx="363931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4398264" y="2039112"/>
            <a:ext cx="365760" cy="36576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icons/loc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212140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55464" y="2020824"/>
            <a:ext cx="2862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398264" y="2514600"/>
            <a:ext cx="331012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IN" sz="1000" dirty="0"/>
              <a:t>Virginia, Texas, and Pennsylvania recorded the highest job volume, while California, Massachusetts, and New York showed the strongest demand for technical skills.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010144" y="1874520"/>
            <a:ext cx="363931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8174736" y="2039112"/>
            <a:ext cx="365760" cy="36576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icons/sal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212140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31936" y="2020824"/>
            <a:ext cx="2862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174736" y="2514600"/>
            <a:ext cx="331012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IN" sz="1000" dirty="0"/>
              <a:t>The median salary is </a:t>
            </a:r>
            <a:r>
              <a:rPr lang="en-IN" sz="1000" b="1" dirty="0"/>
              <a:t>$104.5K</a:t>
            </a:r>
            <a:r>
              <a:rPr lang="en-IN" sz="1000" dirty="0"/>
              <a:t>, with Telecommunications and states such as Washington and Utah offering the highest average salaries.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57200" y="4023360"/>
            <a:ext cx="363931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621792" y="4187952"/>
            <a:ext cx="365760" cy="36576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4" descr="icons/skil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4270248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78992" y="4169664"/>
            <a:ext cx="2862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21792" y="4663440"/>
            <a:ext cx="331012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IN" sz="1000" dirty="0"/>
              <a:t>Python, Excel, and SQL are the three most requested skills, each appearing in approximately one-fifth of job postings.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233672" y="4023360"/>
            <a:ext cx="363931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4398264" y="4187952"/>
            <a:ext cx="365760" cy="36576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5" descr="icons/compan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0" y="4270248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855464" y="4169664"/>
            <a:ext cx="2862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398264" y="4663440"/>
            <a:ext cx="331012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IN" sz="1000" dirty="0"/>
              <a:t>Private companies account for most job postings, while public companies offer approximately </a:t>
            </a:r>
            <a:r>
              <a:rPr lang="en-IN" sz="1000" b="1" dirty="0"/>
              <a:t>8% </a:t>
            </a:r>
            <a:r>
              <a:rPr lang="en-IN" sz="1000" dirty="0"/>
              <a:t>higher average salaries.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8010144" y="4023360"/>
            <a:ext cx="363931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5"/>
          <p:cNvSpPr/>
          <p:nvPr/>
        </p:nvSpPr>
        <p:spPr>
          <a:xfrm>
            <a:off x="8174736" y="4187952"/>
            <a:ext cx="365760" cy="36576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6" descr="icons/r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4270248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631936" y="4169664"/>
            <a:ext cx="2862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Seniority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8174736" y="4663440"/>
            <a:ext cx="331012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IN" sz="1000" dirty="0"/>
              <a:t>Senior-level opportunities are more common than junior roles, while many postings remain open across experience levels.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 •  DATA ANALYST PORTFOLIO</a:t>
            </a:r>
            <a:endParaRPr lang="en-US" sz="850" dirty="0"/>
          </a:p>
        </p:txBody>
      </p:sp>
      <p:sp>
        <p:nvSpPr>
          <p:cNvPr id="38" name="Text 29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BC15F5-53B0-C196-63F8-79471C5EE5F5}"/>
              </a:ext>
            </a:extLst>
          </p:cNvPr>
          <p:cNvSpPr txBox="1"/>
          <p:nvPr/>
        </p:nvSpPr>
        <p:spPr>
          <a:xfrm>
            <a:off x="1845276" y="6117336"/>
            <a:ext cx="937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Overall, the analysis reveals strong demand for data professionals, with clear opportunities driven by technical skills, competitive salaries, and region-specific hiring trends.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553212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91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0432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Strategic recommendations based on insights from SQL analysis and Power BI dashboards.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3630168" cy="4114800"/>
          </a:xfrm>
          <a:prstGeom prst="roundRect">
            <a:avLst>
              <a:gd name="adj" fmla="val 251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76656" y="2066544"/>
            <a:ext cx="475488" cy="475488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jobsee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19456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6656" y="2670048"/>
            <a:ext cx="3191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Job Seekers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76656" y="3108960"/>
            <a:ext cx="319125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IN" sz="1100" dirty="0"/>
              <a:t>Prioritize Python, SQL, and Excel, as they appear in the largest share of job postings across industries and experience levels. 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IN" sz="1100" dirty="0"/>
              <a:t>Focus your job search on Virginia, Texas, and Pennsylvania for higher job availability, or California, Massachusetts, and New York for stronger technical-skill demand. 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IN" sz="1100" dirty="0"/>
              <a:t>Target Telecommunications, TV Broadcasting &amp; Cable, and mid-sized (</a:t>
            </a:r>
            <a:r>
              <a:rPr lang="en-IN" sz="1100" b="1" dirty="0"/>
              <a:t>201–500</a:t>
            </a:r>
            <a:r>
              <a:rPr lang="en-IN" sz="1100" dirty="0"/>
              <a:t> employees) or public companies for higher salary opportunities.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61104" y="1828800"/>
            <a:ext cx="3630168" cy="4114800"/>
          </a:xfrm>
          <a:prstGeom prst="roundRect">
            <a:avLst>
              <a:gd name="adj" fmla="val 251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4480560" y="206654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icons/emplo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219456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80560" y="2670048"/>
            <a:ext cx="3191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Employers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4480560" y="3108960"/>
            <a:ext cx="319125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seniority levels in postings to improve applicant matching and attract entry-level talent.</a:t>
            </a:r>
            <a:endParaRPr lang="en-US" sz="11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IN" sz="1100" dirty="0"/>
              <a:t>Benchmark salary offerings against public companies and mid-sized organizations to remain competitive. 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IN" sz="1100" dirty="0"/>
              <a:t>Improve transparency by disclosing company revenue and size, as nearly one-third of postings fall into the "Unknown Revenue" category.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65008" y="1828800"/>
            <a:ext cx="3630168" cy="4114800"/>
          </a:xfrm>
          <a:prstGeom prst="roundRect">
            <a:avLst>
              <a:gd name="adj" fmla="val 251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8284464" y="2066544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icons/plann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2194560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84464" y="2670048"/>
            <a:ext cx="3191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Workforce Planners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8284464" y="3108960"/>
            <a:ext cx="319125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IN" sz="1100" dirty="0"/>
              <a:t>Expand training programs in cloud (AWS) and big data (Spark) technologies to meet growing employer demand. 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IN" sz="1100" dirty="0"/>
              <a:t>Promote structured junior and entry-level hiring initiatives to strengthen the future data talent pipeline.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 •  DATA ANALYST PORTFOLIO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D5D7DC-E8F0-7C87-7D39-FF94B5330A6E}"/>
              </a:ext>
            </a:extLst>
          </p:cNvPr>
          <p:cNvSpPr txBox="1"/>
          <p:nvPr/>
        </p:nvSpPr>
        <p:spPr>
          <a:xfrm>
            <a:off x="2883242" y="6108192"/>
            <a:ext cx="82296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These recommendations help job seekers, employers, and workforce planners align with current trends in the U.S. data analytics job market.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challe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553212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91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70432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Challenges &amp; Outcomes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577840" cy="448056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63500" dist="25400" dir="5400000" algn="bl" rotWithShape="0">
              <a:srgbClr val="8C97B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8580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196596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IN" sz="1100" b="1" dirty="0"/>
              <a:t>Placeholder Values</a:t>
            </a:r>
            <a:r>
              <a:rPr lang="en-IN" sz="1100" dirty="0"/>
              <a:t> — Resolved invalid (-1) values in Rating, Founded, Industry, and Sector using SQL UPDATE statements. </a:t>
            </a: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IN" sz="1100" b="1" dirty="0"/>
              <a:t>Location Parsing</a:t>
            </a:r>
            <a:r>
              <a:rPr lang="en-IN" sz="1100" dirty="0"/>
              <a:t> — Used SQL string functions and Power Query transformations to extract state-level geography. </a:t>
            </a: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IN" sz="1100" b="1" dirty="0"/>
              <a:t>Skill Transformation</a:t>
            </a:r>
            <a:r>
              <a:rPr lang="en-IN" sz="1100" dirty="0"/>
              <a:t> — Unpivoted sixteen binary skill columns into a unified Skills Dashboard. </a:t>
            </a: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IN" sz="1100" b="1" dirty="0"/>
              <a:t>Incomplete Data</a:t>
            </a:r>
            <a:r>
              <a:rPr lang="en-IN" sz="1100" dirty="0"/>
              <a:t> — Treated missing seniority and revenue information as documented project limitations. </a:t>
            </a: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IN" sz="1100" b="1" dirty="0"/>
              <a:t>Dashboard Design</a:t>
            </a:r>
            <a:r>
              <a:rPr lang="en-IN" sz="1100" dirty="0"/>
              <a:t> — Balanced four dashboard perspectives while avoiding duplicate visuals. </a:t>
            </a: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IN" sz="1100" b="1" dirty="0"/>
              <a:t>Data Validation</a:t>
            </a:r>
            <a:r>
              <a:rPr lang="en-IN" sz="1100" dirty="0"/>
              <a:t> — Cross-verified SQL results with Power BI measures and dashboard visualizations.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532120" cy="4480560"/>
          </a:xfrm>
          <a:prstGeom prst="roundRect">
            <a:avLst>
              <a:gd name="adj" fmla="val 1980"/>
            </a:avLst>
          </a:prstGeom>
          <a:solidFill>
            <a:srgbClr val="1E2761"/>
          </a:solidFill>
          <a:ln/>
          <a:effectLst>
            <a:outerShdw blurRad="76200" dist="38100" dir="5400000" algn="bl" rotWithShape="0">
              <a:srgbClr val="8C97B8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080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0" y="2029968"/>
            <a:ext cx="146304" cy="146304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693408" y="189280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 —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MySQL database with duplicates, nulls &amp; placeholders resolved and documented.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2779776"/>
            <a:ext cx="146304" cy="146304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693408" y="2642616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Library —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reusable SQL queries answering the project's core business questions.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0" y="3529584"/>
            <a:ext cx="146304" cy="146304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693408" y="3392424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Four-page, cross-filterable Power BI suite covering 2,000 job listings.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0" y="4279392"/>
            <a:ext cx="146304" cy="146304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693408" y="4142232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—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methodology, dashboard explanations, insights, and recommendations.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0" y="5029200"/>
            <a:ext cx="146304" cy="146304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693408" y="489204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Report —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a professional project report covering methodology, SQL analysis, Power BI dashboards, insights, and recommendations.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 •  DATA ANALYST PORTFOLIO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B40599-D5FC-40AB-EF25-78D16E2CB4F4}"/>
              </a:ext>
            </a:extLst>
          </p:cNvPr>
          <p:cNvSpPr txBox="1"/>
          <p:nvPr/>
        </p:nvSpPr>
        <p:spPr>
          <a:xfrm>
            <a:off x="1688757" y="6080760"/>
            <a:ext cx="88886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project demonstrates my ability to transform raw data into actionable business insights using SQL and Power BI.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754880" cy="475488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4389120"/>
            <a:ext cx="4023360" cy="402336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concl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9601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822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CSV to a cleaned relational database to a polished, interactive Power BI dashboard suite — this project demonstrates a complete, real-world analytics workflow.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remains the flagship title; SQL and Excel are among the most requested technical skills.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is influenced more by ownership structure and industry than by company size alone.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SQL's precision with Power BI's interactive storytelling turns a static dataset into a living, explorable tool.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SQL outputs against dashboard visuals ensured consistency, accuracy, and reliable reporting throughout.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practical expertise in SQL, Power BI, DAX, data modeling, dashboard design, and business storytelling.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635240" y="2468880"/>
            <a:ext cx="3794760" cy="3610644"/>
          </a:xfrm>
          <a:prstGeom prst="roundRect">
            <a:avLst>
              <a:gd name="adj" fmla="val 2778"/>
            </a:avLst>
          </a:prstGeom>
          <a:solidFill>
            <a:srgbClr val="141B4D"/>
          </a:solidFill>
          <a:ln w="12700">
            <a:solidFill>
              <a:srgbClr val="3A46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863840" y="2606040"/>
            <a:ext cx="3383280" cy="334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63840" y="2940909"/>
            <a:ext cx="3383280" cy="3080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Data Cleaning</a:t>
            </a:r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Optimization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&amp; DAX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</a:t>
            </a:r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b="1" i="1" dirty="0">
                <a:solidFill>
                  <a:schemeClr val="bg1"/>
                </a:solidFill>
              </a:rPr>
              <a:t>This end-to-end project showcases my ability to transform raw data into meaningful business insights using SQL, Power BI, and data analytics.</a:t>
            </a:r>
            <a:endParaRPr lang="en-US" sz="1050" b="1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1683</TotalTime>
  <Words>2388</Words>
  <Application>Microsoft Office PowerPoint</Application>
  <PresentationFormat>Widescreen</PresentationFormat>
  <Paragraphs>332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BALIJI MOHAN B</cp:lastModifiedBy>
  <cp:revision>23</cp:revision>
  <dcterms:created xsi:type="dcterms:W3CDTF">2026-07-16T08:18:57Z</dcterms:created>
  <dcterms:modified xsi:type="dcterms:W3CDTF">2026-07-17T14:18:13Z</dcterms:modified>
</cp:coreProperties>
</file>